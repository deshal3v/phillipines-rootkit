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5143500" cx="9144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5.xml"/><Relationship Id="rId41" Type="http://schemas.openxmlformats.org/officeDocument/2006/relationships/font" Target="fonts/Lat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6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5.xml"/><Relationship Id="rId32" Type="http://schemas.openxmlformats.org/officeDocument/2006/relationships/font" Target="fonts/Raleway-italic.fntdata"/><Relationship Id="rId13" Type="http://schemas.openxmlformats.org/officeDocument/2006/relationships/slide" Target="slides/slide8.xml"/><Relationship Id="rId35" Type="http://schemas.openxmlformats.org/officeDocument/2006/relationships/font" Target="fonts/Roboto-bold.fntdata"/><Relationship Id="rId12" Type="http://schemas.openxmlformats.org/officeDocument/2006/relationships/slide" Target="slides/slide7.xml"/><Relationship Id="rId34" Type="http://schemas.openxmlformats.org/officeDocument/2006/relationships/font" Target="fonts/Roboto-regular.fntdata"/><Relationship Id="rId15" Type="http://schemas.openxmlformats.org/officeDocument/2006/relationships/slide" Target="slides/slide10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9.xml"/><Relationship Id="rId36" Type="http://schemas.openxmlformats.org/officeDocument/2006/relationships/font" Target="fonts/Roboto-italic.fntdata"/><Relationship Id="rId17" Type="http://schemas.openxmlformats.org/officeDocument/2006/relationships/slide" Target="slides/slide12.xml"/><Relationship Id="rId39" Type="http://schemas.openxmlformats.org/officeDocument/2006/relationships/font" Target="fonts/Lato-bold.fntdata"/><Relationship Id="rId16" Type="http://schemas.openxmlformats.org/officeDocument/2006/relationships/slide" Target="slides/slide11.xml"/><Relationship Id="rId38" Type="http://schemas.openxmlformats.org/officeDocument/2006/relationships/font" Target="fonts/Lat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5246fb8d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5246fb8d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4107c27ce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4107c27c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5246fb8d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5246fb8d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4107c27ce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64107c27ce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45246fb8d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45246fb8d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5246fb8d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5246fb8d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5246fb8d9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45246fb8d9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45246fb8d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45246fb8d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5246fb8d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45246fb8d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5246fb8d9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45246fb8d9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5246fb8d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5246fb8d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45246fb8d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45246fb8d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5246fb8d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45246fb8d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4102e2b4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4102e2b4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4102e2b4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4102e2b4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45246fb8d9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45246fb8d9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4102e2b4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4102e2b4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64107c27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64107c27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4107c27ce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64107c27c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4107c27c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4107c27c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64107c27ce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64107c27ce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64107c27c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64107c27c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64107c27c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64107c27c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hyperlink" Target="https://www.cs.umd.edu/~mwh/papers/sbcfi.pdf" TargetMode="External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://bitblaze.cs.berkeley.edu/papers/hookscout-dimva10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hyperlink" Target="https://dl.ifip.org/db/conf/ifip11-9/df2007/WamplerG07.pdf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Linux kernel rootkit detection </a:t>
            </a:r>
            <a:r>
              <a:rPr lang="en-GB"/>
              <a:t>challenges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It’s easy, too easy…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we know to do well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7650" y="1943100"/>
            <a:ext cx="7688700" cy="26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Static/Code (comparison)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Disk vs Memory when possible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Check specifically in places in the kernel we know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are 1000 more ways right?? 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Time to show that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825" y="1748801"/>
            <a:ext cx="2255150" cy="24231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" name="Google Shape;105;p16"/>
          <p:cNvCxnSpPr/>
          <p:nvPr/>
        </p:nvCxnSpPr>
        <p:spPr>
          <a:xfrm>
            <a:off x="3577600" y="2666449"/>
            <a:ext cx="15201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" name="Google Shape;106;p16"/>
          <p:cNvSpPr txBox="1"/>
          <p:nvPr/>
        </p:nvSpPr>
        <p:spPr>
          <a:xfrm>
            <a:off x="5566400" y="2211655"/>
            <a:ext cx="2255100" cy="10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18,000 kernel function pointers in data areas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262900" y="4286250"/>
            <a:ext cx="3000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credit:</a:t>
            </a:r>
            <a:br>
              <a:rPr lang="en-GB"/>
            </a:br>
            <a:r>
              <a:rPr lang="en-GB" sz="1100" u="sng">
                <a:solidFill>
                  <a:schemeClr val="hlink"/>
                </a:solidFill>
                <a:hlinkClick r:id="rId4"/>
              </a:rPr>
              <a:t>https://www.cs.umd.edu/~mwh/papers/sbcfi.pdf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216172"/>
            <a:ext cx="4815401" cy="77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6050" y="1682646"/>
            <a:ext cx="5791898" cy="2774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679100" y="1314100"/>
            <a:ext cx="45243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 am not the only one - In Windows (Xp)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11525" y="4533200"/>
            <a:ext cx="6799800" cy="4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credit: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http://bitblaze.cs.berkeley.edu/papers/hookscout-dimva10.pdf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1765" y="1306795"/>
            <a:ext cx="3860474" cy="36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POC</a:t>
            </a:r>
            <a:endParaRPr/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5500" y="1753475"/>
            <a:ext cx="4271000" cy="327952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/>
          <p:nvPr/>
        </p:nvSpPr>
        <p:spPr>
          <a:xfrm>
            <a:off x="175300" y="2274550"/>
            <a:ext cx="2080200" cy="1348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ato"/>
                <a:ea typeface="Lato"/>
                <a:cs typeface="Lato"/>
                <a:sym typeface="Lato"/>
              </a:rPr>
              <a:t>Ex rookit for matsov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8" name="Google Shape;128;p19"/>
          <p:cNvCxnSpPr/>
          <p:nvPr/>
        </p:nvCxnSpPr>
        <p:spPr>
          <a:xfrm>
            <a:off x="2255500" y="2948950"/>
            <a:ext cx="384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Small POC</a:t>
            </a:r>
            <a:endParaRPr/>
          </a:p>
        </p:txBody>
      </p:sp>
      <p:pic>
        <p:nvPicPr>
          <p:cNvPr id="134" name="Google Shape;13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1750" y="1915525"/>
            <a:ext cx="5704099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/>
        </p:nvSpPr>
        <p:spPr>
          <a:xfrm>
            <a:off x="720100" y="1668775"/>
            <a:ext cx="5177700" cy="23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6813" y="1394450"/>
            <a:ext cx="6590382" cy="362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problem of 7753 (not only)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727650" y="1943100"/>
            <a:ext cx="7688700" cy="26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Overfitting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DKOM: completely blind to unresearched </a:t>
            </a: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mechanisms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AutoNum type="arabicPeriod"/>
            </a:pPr>
            <a:r>
              <a:rPr lang="en-GB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 enough resource to map significantly more kernel areas for research.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510275" y="2509275"/>
            <a:ext cx="8457600" cy="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 Kernel mechanism requires dedicated ‘research’  that can be done by only few.</a:t>
            </a:r>
            <a:endParaRPr/>
          </a:p>
        </p:txBody>
      </p:sp>
      <p:sp>
        <p:nvSpPr>
          <p:cNvPr id="152" name="Google Shape;152;p23"/>
          <p:cNvSpPr txBox="1"/>
          <p:nvPr>
            <p:ph type="title"/>
          </p:nvPr>
        </p:nvSpPr>
        <p:spPr>
          <a:xfrm>
            <a:off x="612450" y="1369000"/>
            <a:ext cx="7919100" cy="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cxnSp>
        <p:nvCxnSpPr>
          <p:cNvPr id="153" name="Google Shape;153;p23"/>
          <p:cNvCxnSpPr/>
          <p:nvPr/>
        </p:nvCxnSpPr>
        <p:spPr>
          <a:xfrm>
            <a:off x="5227400" y="3197675"/>
            <a:ext cx="1421100" cy="1184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3"/>
          <p:cNvCxnSpPr>
            <a:endCxn id="155" idx="0"/>
          </p:cNvCxnSpPr>
          <p:nvPr/>
        </p:nvCxnSpPr>
        <p:spPr>
          <a:xfrm flipH="1">
            <a:off x="1287075" y="3197725"/>
            <a:ext cx="1682100" cy="1167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3"/>
          <p:cNvSpPr txBox="1"/>
          <p:nvPr/>
        </p:nvSpPr>
        <p:spPr>
          <a:xfrm>
            <a:off x="351525" y="4365625"/>
            <a:ext cx="18711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Not Doing research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not enough resources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6" name="Google Shape;156;p23"/>
          <p:cNvSpPr txBox="1"/>
          <p:nvPr/>
        </p:nvSpPr>
        <p:spPr>
          <a:xfrm>
            <a:off x="6071500" y="4365625"/>
            <a:ext cx="18711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Overfitting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ללכת בלי ולהרגיש עם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727650" y="5589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Kernel Rootkit Detection: Classification and Taxonomy</a:t>
            </a:r>
            <a:endParaRPr b="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4"/>
          <p:cNvSpPr txBox="1"/>
          <p:nvPr/>
        </p:nvSpPr>
        <p:spPr>
          <a:xfrm>
            <a:off x="559950" y="1288125"/>
            <a:ext cx="7688700" cy="2177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/>
              <a:t>7753 knows to</a:t>
            </a:r>
            <a:endParaRPr b="1"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AutoNum type="arabicPeriod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Signature-Based Detection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Identifies rootkits using known malware signatures, hash values, code patterns, or tampered kernel tables.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Fast, but easily evaded with code changes or advanced hiding.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AutoNum type="arabicPeriod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Cross-View-Based Detection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Compares high-level OS outputs (e.g., process and module listings) with low-level memory scans to spot discrepancies from rootkit hiding methods (.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Often used in forensic analysis and live memory tools.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DKOM (60/18000)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4"/>
          <p:cNvSpPr txBox="1"/>
          <p:nvPr/>
        </p:nvSpPr>
        <p:spPr>
          <a:xfrm>
            <a:off x="559950" y="2954325"/>
            <a:ext cx="7858200" cy="28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00"/>
              <a:t>Out of reach</a:t>
            </a:r>
            <a:endParaRPr b="1" sz="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AutoNum type="arabicPeriod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Behavior-Based Detection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Monitors kernel for suspicious activities: abnormal memory accesses, unauthorized function hooks, device driver anomalies, hidden files/processes, and direct data structure tampering.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Effective against stealth techniques, but can be noisy or subject to false positives.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AutoNum type="arabicPeriod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Integrity-Based Detection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Checks and enforces kernel code/data integrity using hashes, write-protection, function pointer validation, and hardware policies.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Robust, but may introduce overhead and not cover all attack surfaces.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AutoNum type="arabicPeriod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External Hardware-Based Detection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Uses coprocessors or isolated hardware modules to monitor kernel state and memory from outside the OS.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Highly resistant to tampering, but incurs extra cost and complexity.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AutoNum type="arabicPeriod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Learning-Based Detection (AI/ML)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Utilizes machine and deep learning for profiling behavior, anomaly detection, and feature learning from kernel activity and memory/state data.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-2794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Roboto"/>
              <a:buChar char="●"/>
            </a:pPr>
            <a:r>
              <a:rPr lang="en-GB" sz="800">
                <a:latin typeface="Roboto"/>
                <a:ea typeface="Roboto"/>
                <a:cs typeface="Roboto"/>
                <a:sym typeface="Roboto"/>
              </a:rPr>
              <a:t>Adaptable to new threats, but depends on good data, features, and careful training.</a:t>
            </a:r>
            <a:endParaRPr sz="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Areas we should get into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DKOM (direct kernel object manipulation) - finding a smarter approach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Emulation and Intervention (hypervisor based, emulation, eBPF)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/>
              <a:t>Some outsource and open source: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GB"/>
              <a:t>i.e (how to replace Seekle </a:t>
            </a:r>
            <a:r>
              <a:rPr lang="en-GB"/>
              <a:t>tomorrow)</a:t>
            </a:r>
            <a:endParaRPr/>
          </a:p>
        </p:txBody>
      </p:sp>
      <p:pic>
        <p:nvPicPr>
          <p:cNvPr id="170" name="Google Shape;1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8075" y="3166125"/>
            <a:ext cx="3613951" cy="170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7650" y="3166125"/>
            <a:ext cx="2535100" cy="170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7650" y="3166125"/>
            <a:ext cx="576149" cy="2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</a:t>
            </a: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experiments</a:t>
            </a:r>
            <a:endParaRPr b="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8" name="Google Shape;17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750" y="1466050"/>
            <a:ext cx="4244499" cy="2829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93325" y="2222500"/>
            <a:ext cx="4507327" cy="30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00" y="2222500"/>
            <a:ext cx="4381475" cy="2921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Some experiments</a:t>
            </a:r>
            <a:endParaRPr b="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3581822" cy="2984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7"/>
          <p:cNvPicPr preferRelativeResize="0"/>
          <p:nvPr/>
        </p:nvPicPr>
        <p:blipFill rotWithShape="1">
          <a:blip r:embed="rId4">
            <a:alphaModFix/>
          </a:blip>
          <a:srcRect b="29527" l="0" r="0" t="0"/>
          <a:stretch/>
        </p:blipFill>
        <p:spPr>
          <a:xfrm>
            <a:off x="4039025" y="2121350"/>
            <a:ext cx="4477401" cy="185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7"/>
          <p:cNvSpPr txBox="1"/>
          <p:nvPr/>
        </p:nvSpPr>
        <p:spPr>
          <a:xfrm>
            <a:off x="3966075" y="1407600"/>
            <a:ext cx="4081200" cy="6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credit: </a:t>
            </a:r>
            <a:r>
              <a:rPr lang="en-GB" sz="1100" u="sng">
                <a:solidFill>
                  <a:schemeClr val="hlink"/>
                </a:solidFill>
                <a:hlinkClick r:id="rId5"/>
              </a:rPr>
              <a:t>https://dl.ifip.org/db/conf/ifip11-9/df2007/WamplerG07.pdf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9366" y="1917725"/>
            <a:ext cx="3870909" cy="32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will it look</a:t>
            </a:r>
            <a:endParaRPr b="0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0" name="Google Shape;200;p29" title="Screenshot 2025-08-10 at 17.26.3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738" y="2732150"/>
            <a:ext cx="4167777" cy="1003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29"/>
          <p:cNvCxnSpPr/>
          <p:nvPr/>
        </p:nvCxnSpPr>
        <p:spPr>
          <a:xfrm>
            <a:off x="4621200" y="3229275"/>
            <a:ext cx="1673100" cy="9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2" name="Google Shape;20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54200" y="2433588"/>
            <a:ext cx="2689799" cy="160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Motivation and tools</a:t>
            </a:r>
            <a:endParaRPr/>
          </a:p>
        </p:txBody>
      </p:sp>
      <p:pic>
        <p:nvPicPr>
          <p:cNvPr id="208" name="Google Shape;20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863" y="2039750"/>
            <a:ext cx="5262583" cy="2915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1425" y="2146775"/>
            <a:ext cx="2807865" cy="9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21" y="3303525"/>
            <a:ext cx="2285501" cy="171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Action Items</a:t>
            </a:r>
            <a:endParaRPr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729450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262626"/>
                </a:solidFill>
                <a:highlight>
                  <a:srgbClr val="EFF6FF"/>
                </a:highlight>
                <a:latin typeface="Roboto"/>
                <a:ea typeface="Roboto"/>
                <a:cs typeface="Roboto"/>
                <a:sym typeface="Roboto"/>
              </a:rPr>
              <a:t>complete research - learning based </a:t>
            </a:r>
            <a:endParaRPr sz="1400">
              <a:solidFill>
                <a:srgbClr val="262626"/>
              </a:solidFill>
              <a:highlight>
                <a:srgbClr val="EFF6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262626"/>
              </a:solidFill>
              <a:highlight>
                <a:srgbClr val="EFF6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62626"/>
                </a:solidFill>
                <a:highlight>
                  <a:srgbClr val="EFF6FF"/>
                </a:highlight>
                <a:latin typeface="Roboto"/>
                <a:ea typeface="Roboto"/>
                <a:cs typeface="Roboto"/>
                <a:sym typeface="Roboto"/>
              </a:rPr>
              <a:t>1. call stack modelling using ePBF trace demo and learning based method</a:t>
            </a:r>
            <a:endParaRPr sz="1200">
              <a:solidFill>
                <a:srgbClr val="262626"/>
              </a:solidFill>
              <a:highlight>
                <a:srgbClr val="EFF6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262626"/>
                </a:solidFill>
                <a:highlight>
                  <a:srgbClr val="EFF6FF"/>
                </a:highlight>
                <a:latin typeface="Roboto"/>
                <a:ea typeface="Roboto"/>
                <a:cs typeface="Roboto"/>
                <a:sym typeface="Roboto"/>
              </a:rPr>
              <a:t>2. smart kernel specific data fuzzy hashing with user input</a:t>
            </a:r>
            <a:endParaRPr sz="1200">
              <a:solidFill>
                <a:srgbClr val="262626"/>
              </a:solidFill>
              <a:highlight>
                <a:srgbClr val="EFF6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31"/>
          <p:cNvSpPr txBox="1"/>
          <p:nvPr>
            <p:ph idx="1" type="body"/>
          </p:nvPr>
        </p:nvSpPr>
        <p:spPr>
          <a:xfrm>
            <a:off x="4572150" y="2078875"/>
            <a:ext cx="3842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262626"/>
                </a:solidFill>
                <a:highlight>
                  <a:srgbClr val="EFF6FF"/>
                </a:highlight>
                <a:latin typeface="Roboto"/>
                <a:ea typeface="Roboto"/>
                <a:cs typeface="Roboto"/>
                <a:sym typeface="Roboto"/>
              </a:rPr>
              <a:t>complete reaserach - monitor based</a:t>
            </a:r>
            <a:endParaRPr sz="1400">
              <a:solidFill>
                <a:srgbClr val="262626"/>
              </a:solidFill>
              <a:highlight>
                <a:srgbClr val="EFF6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highlight>
                <a:srgbClr val="EFF6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62626"/>
                </a:solidFill>
                <a:highlight>
                  <a:srgbClr val="EFF6FF"/>
                </a:highlight>
                <a:latin typeface="Roboto"/>
                <a:ea typeface="Roboto"/>
                <a:cs typeface="Roboto"/>
                <a:sym typeface="Roboto"/>
              </a:rPr>
              <a:t>3. machine lifting - both amd and intel and monitoring</a:t>
            </a:r>
            <a:endParaRPr sz="1200">
              <a:solidFill>
                <a:srgbClr val="262626"/>
              </a:solidFill>
              <a:highlight>
                <a:srgbClr val="EFF6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62626"/>
                </a:solidFill>
                <a:highlight>
                  <a:srgbClr val="EFF6FF"/>
                </a:highlight>
                <a:latin typeface="Roboto"/>
                <a:ea typeface="Roboto"/>
                <a:cs typeface="Roboto"/>
                <a:sym typeface="Roboto"/>
              </a:rPr>
              <a:t>4. Debug registers access monitoring</a:t>
            </a:r>
            <a:endParaRPr sz="1200">
              <a:solidFill>
                <a:srgbClr val="262626"/>
              </a:solidFill>
              <a:highlight>
                <a:srgbClr val="EFF6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62626"/>
                </a:solidFill>
                <a:highlight>
                  <a:srgbClr val="EFF6FF"/>
                </a:highlight>
                <a:latin typeface="Roboto"/>
                <a:ea typeface="Roboto"/>
                <a:cs typeface="Roboto"/>
                <a:sym typeface="Roboto"/>
              </a:rPr>
              <a:t>5. eBPF memory inspection in realtime</a:t>
            </a:r>
            <a:endParaRPr sz="1200">
              <a:solidFill>
                <a:srgbClr val="262626"/>
              </a:solidFill>
              <a:highlight>
                <a:srgbClr val="EFF6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200">
                <a:solidFill>
                  <a:srgbClr val="262626"/>
                </a:solidFill>
                <a:highlight>
                  <a:srgbClr val="EFF6FF"/>
                </a:highlight>
                <a:latin typeface="Roboto"/>
                <a:ea typeface="Roboto"/>
                <a:cs typeface="Roboto"/>
                <a:sym typeface="Roboto"/>
              </a:rPr>
              <a:t>6. emulation based for kernel (qemu/using kexec maybe)</a:t>
            </a:r>
            <a:endParaRPr sz="1400">
              <a:solidFill>
                <a:srgbClr val="262626"/>
              </a:solidFill>
              <a:highlight>
                <a:srgbClr val="EFF6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782600" y="4260150"/>
            <a:ext cx="2328300" cy="6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36h PoC for PoC at home for each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5329350" y="4260150"/>
            <a:ext cx="23283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48h PoC at home: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AutoNum type="arabicPeriod"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find best lead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AutoNum type="arabicPeriod"/>
            </a:pPr>
            <a:r>
              <a:rPr b="1"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implement it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 rot="2206974">
            <a:off x="3213606" y="2345531"/>
            <a:ext cx="2212983" cy="72594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שלושה חודשים  פלוס במשרד סגולה…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1" name="Google Shape;22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8969" y="3323675"/>
            <a:ext cx="1196600" cy="119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1"/>
          <p:cNvPicPr preferRelativeResize="0"/>
          <p:nvPr/>
        </p:nvPicPr>
        <p:blipFill rotWithShape="1">
          <a:blip r:embed="rId4">
            <a:alphaModFix amt="34000"/>
          </a:blip>
          <a:srcRect b="11220" l="-111420" r="111420" t="-11220"/>
          <a:stretch/>
        </p:blipFill>
        <p:spPr>
          <a:xfrm>
            <a:off x="2665076" y="3410576"/>
            <a:ext cx="1104400" cy="110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4275" y="3236325"/>
            <a:ext cx="1366000" cy="136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we have done already</a:t>
            </a:r>
            <a:endParaRPr/>
          </a:p>
        </p:txBody>
      </p:sp>
      <p:sp>
        <p:nvSpPr>
          <p:cNvPr id="229" name="Google Shape;229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/>
              <a:t>Market research</a:t>
            </a:r>
            <a:endParaRPr sz="12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GB"/>
              <a:t>K</a:t>
            </a:r>
            <a:r>
              <a:rPr lang="en-GB"/>
              <a:t>nows exactly what exists out there (not so much in companies IP)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GB"/>
              <a:t>Read ~15 research papers fromrecent years.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n-GB" sz="1100"/>
              <a:t>Putting the finger on the  problem.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Demonstrating two kernel rootkits using this understanding. (that we didnt find…)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Starting to play with the data and finding stuff.  HDBSCAN on syscalls, ext4_operations.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Writing eBPF probing mechanism to take kernel traces in realtime - almost done</a:t>
            </a:r>
            <a:endParaRPr sz="1100"/>
          </a:p>
        </p:txBody>
      </p:sp>
      <p:sp>
        <p:nvSpPr>
          <p:cNvPr id="230" name="Google Shape;230;p32"/>
          <p:cNvSpPr txBox="1"/>
          <p:nvPr/>
        </p:nvSpPr>
        <p:spPr>
          <a:xfrm rot="2222862">
            <a:off x="3430691" y="2881815"/>
            <a:ext cx="2474772" cy="65520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חודשיים במשרד, לקח יום עבודה ברוטו (בבית…)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for me (i.e Help me to help you )</a:t>
            </a:r>
            <a:endParaRPr/>
          </a:p>
        </p:txBody>
      </p:sp>
      <p:sp>
        <p:nvSpPr>
          <p:cNvPr id="236" name="Google Shape;236;p3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t/>
            </a:r>
            <a:endParaRPr sz="1100"/>
          </a:p>
        </p:txBody>
      </p:sp>
      <p:pic>
        <p:nvPicPr>
          <p:cNvPr id="237" name="Google Shape;23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475" y="2171512"/>
            <a:ext cx="5295043" cy="25363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0412" y="1976300"/>
            <a:ext cx="2786175" cy="27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0050" y="2171500"/>
            <a:ext cx="689475" cy="361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for me (i.e Help me to help you )</a:t>
            </a:r>
            <a:endParaRPr/>
          </a:p>
        </p:txBody>
      </p:sp>
      <p:sp>
        <p:nvSpPr>
          <p:cNvPr id="245" name="Google Shape;245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100"/>
              <a:t>2. </a:t>
            </a:r>
            <a:endParaRPr sz="1100"/>
          </a:p>
        </p:txBody>
      </p:sp>
      <p:pic>
        <p:nvPicPr>
          <p:cNvPr id="246" name="Google Shape;24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9575" y="2665350"/>
            <a:ext cx="2628200" cy="164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57875" y="2737575"/>
            <a:ext cx="2390804" cy="1570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34"/>
          <p:cNvCxnSpPr/>
          <p:nvPr/>
        </p:nvCxnSpPr>
        <p:spPr>
          <a:xfrm>
            <a:off x="3792350" y="3439575"/>
            <a:ext cx="1640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Opportunities (Why Now)</a:t>
            </a:r>
            <a:endParaRPr/>
          </a:p>
        </p:txBody>
      </p:sp>
      <p:sp>
        <p:nvSpPr>
          <p:cNvPr id="254" name="Google Shape;254;p3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Semi free - looking for new challenge after Hexagon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The rise and availability of llms/statistical learning frameworks and tools </a:t>
            </a:r>
            <a:r>
              <a:rPr lang="en-GB" sz="1100"/>
              <a:t> 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en-GB" sz="1100"/>
              <a:t>Got the best </a:t>
            </a:r>
            <a:r>
              <a:rPr b="1" lang="en-GB"/>
              <a:t>training in the IDF - let me use this….</a:t>
            </a:r>
            <a:endParaRPr b="1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b="1" lang="en-GB"/>
              <a:t>Academic background</a:t>
            </a:r>
            <a:endParaRPr b="1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b="1" lang="en-GB" sz="1100"/>
              <a:t>The new ai tools let me cover up on my weaknesses that usually hold me back</a:t>
            </a:r>
            <a:endParaRPr b="1"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GB"/>
              <a:t>I am </a:t>
            </a:r>
            <a:r>
              <a:rPr lang="en-GB"/>
              <a:t>very</a:t>
            </a:r>
            <a:r>
              <a:rPr lang="en-GB"/>
              <a:t> slow - windsurf and cursor help a lot to mitigate and make it less </a:t>
            </a:r>
            <a:r>
              <a:rPr lang="en-GB"/>
              <a:t>noticeable</a:t>
            </a:r>
            <a:r>
              <a:rPr lang="en-GB"/>
              <a:t> in my work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AutoNum type="alphaLcPeriod"/>
            </a:pPr>
            <a:r>
              <a:rPr lang="en-GB"/>
              <a:t>No need to do dev alone anymore - new llms are great. </a:t>
            </a:r>
            <a:r>
              <a:rPr b="1" lang="en-GB"/>
              <a:t>By </a:t>
            </a:r>
            <a:r>
              <a:rPr b="1" lang="en-GB"/>
              <a:t>choosing</a:t>
            </a:r>
            <a:r>
              <a:rPr b="1" lang="en-GB"/>
              <a:t> and training the right ones you can get very good results for linux based coding.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Ideas - </a:t>
            </a:r>
            <a:r>
              <a:rPr lang="en-GB"/>
              <a:t>what</a:t>
            </a:r>
            <a:r>
              <a:rPr lang="en-GB"/>
              <a:t> can we do</a:t>
            </a:r>
            <a:endParaRPr/>
          </a:p>
        </p:txBody>
      </p:sp>
      <p:sp>
        <p:nvSpPr>
          <p:cNvPr id="260" name="Google Shape;260;p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Work from home some of the day - i.e arriving late and utilizing the </a:t>
            </a:r>
            <a:r>
              <a:rPr lang="en-GB" sz="1100"/>
              <a:t>morning. 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Work from other facility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-GB" sz="1100"/>
              <a:t>Keep the spark - hackathon based and freedom. 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